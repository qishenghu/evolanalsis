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62728"/>
                </a:solidFill>
                <a:latin typeface="Calibri"/>
              </a:defRPr>
            </a:pPr>
            <a:r>
              <a:t>DUET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DUal Expert Trajectory Utilization for Agent RLVR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DD"/>
                </a:solidFill>
                <a:latin typeface="Calibri"/>
              </a:defRPr>
            </a:pPr>
            <a:r>
              <a:t>ALFWorld 3B 实验分析汇报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77"/>
                </a:solidFill>
                <a:latin typeface="Calibri"/>
              </a:defRPr>
            </a:pPr>
            <a:r>
              <a:t>2026-03-30  |  Qwen2.5-3B-Instruct  |  4×H100 80GB  |  100 Training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Target: NeurIPS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问题背景与动机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2A1A1A"/>
          </a:solidFill>
          <a:ln w="1270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62728"/>
                </a:solidFill>
                <a:latin typeface="Calibri"/>
              </a:defRPr>
            </a:pPr>
            <a:r>
              <a:t>❌  Agent RLVR 的核心挑战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Reward Sparsity：</a:t>
            </a:r>
            <a:r>
              <a:rPr sz="1500">
                <a:solidFill>
                  <a:srgbClr val="CCCCDD"/>
                </a:solidFill>
                <a:latin typeface="Calibri"/>
              </a:rPr>
              <a:t>Multi-turn环境中只有终端奖励(0/1)，5-20步决策链中任一步出错即失败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GRPO困境：</a:t>
            </a:r>
            <a:r>
              <a:rPr sz="1500">
                <a:solidFill>
                  <a:srgbClr val="CCCCDD"/>
                </a:solidFill>
                <a:latin typeface="Calibri"/>
              </a:rPr>
              <a:t>当group内所有rollout全部R=0时，σ_R=0，无法产生梯度信号 → 训练停滞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LUFFY局限：</a:t>
            </a:r>
            <a:r>
              <a:rPr sz="1500">
                <a:solidFill>
                  <a:srgbClr val="CCCCDD"/>
                </a:solidFill>
                <a:latin typeface="Calibri"/>
              </a:rPr>
              <a:t>固定policy shaping无法自适应衰减teacher影响，后期引入有害梯度方向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CHORD局限：</a:t>
            </a:r>
            <a:r>
              <a:rPr sz="1500">
                <a:solidFill>
                  <a:srgbClr val="CCCCDD"/>
                </a:solidFill>
                <a:latin typeface="Calibri"/>
              </a:rPr>
              <a:t>SFT路径在衰减后等价于纯GRPO，不解决reward sparsity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💡  DUET 的核心洞察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信息分解：</a:t>
            </a:r>
            <a:r>
              <a:rPr sz="1500">
                <a:solidFill>
                  <a:srgbClr val="CCCCDD"/>
                </a:solidFill>
                <a:latin typeface="Calibri"/>
              </a:rPr>
              <a:t>Expert trajectory包含两类正交信息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Action-level（策略相关）：</a:t>
            </a:r>
            <a:r>
              <a:rPr sz="1500">
                <a:solidFill>
                  <a:srgbClr val="CCCCDD"/>
                </a:solidFill>
                <a:latin typeface="Calibri"/>
              </a:rPr>
              <a:t>expert选择了什么action → 需要分布修正（importance weighting）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State-level（策略无关）：</a:t>
            </a:r>
            <a:r>
              <a:rPr sz="1500">
                <a:solidFill>
                  <a:srgbClr val="CCCCDD"/>
                </a:solidFill>
                <a:latin typeface="Calibri"/>
              </a:rPr>
              <a:t>expert到达了什么state → 可直接构造进度奖励（reward shaping）</a:t>
            </a:r>
          </a:p>
          <a:p>
            <a:pPr>
              <a:spcAft>
                <a:spcPts val="800"/>
              </a:spcAft>
              <a:defRPr sz="1500">
                <a:solidFill>
                  <a:srgbClr val="CCCCDD"/>
                </a:solidFill>
                <a:latin typeface="Calibri"/>
              </a:defRPr>
            </a:pPr>
            <a:r>
              <a:rPr b="1" sz="1500">
                <a:solidFill>
                  <a:srgbClr val="FFFFFF"/>
                </a:solidFill>
                <a:latin typeface="Calibri"/>
              </a:rPr>
              <a:t>核心主张：</a:t>
            </a:r>
            <a:r>
              <a:rPr sz="1500">
                <a:solidFill>
                  <a:srgbClr val="CCCCDD"/>
                </a:solidFill>
                <a:latin typeface="Calibri"/>
              </a:rPr>
              <a:t>分别用最适合各自性质的方法处理，二者正交互补，同时解决分布修正和奖励稀疏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DUET 算法架构：双通道专家轨迹利用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1A1A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Action Channel (DR3)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密度比判别器修正 — 解决分布偏移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原理：</a:t>
            </a:r>
            <a:r>
              <a:rPr sz="1400">
                <a:solidFill>
                  <a:srgbClr val="CCCCDD"/>
                </a:solidFill>
                <a:latin typeface="Calibri"/>
              </a:rPr>
              <a:t>训练轻量判别器区分on-policy vs teacher序列，估计密度比 w(τ)=π_θ(τ)/π_mix(τ)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黑盒适配：</a:t>
            </a:r>
            <a:r>
              <a:rPr sz="1400">
                <a:solidFill>
                  <a:srgbClr val="CCCCDD"/>
                </a:solidFill>
                <a:latin typeface="Calibri"/>
              </a:rPr>
              <a:t>不需要teacher logprob，使用12维序列级特征(v3_aug)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自然衰退：</a:t>
            </a:r>
            <a:r>
              <a:rPr sz="1400">
                <a:solidFill>
                  <a:srgbClr val="CCCCDD"/>
                </a:solidFill>
                <a:latin typeface="Calibri"/>
              </a:rPr>
              <a:t>随policy改善，判别器越来越难区分 → teacher权重自动降低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Gap Gate：</a:t>
            </a:r>
            <a:r>
              <a:rPr sz="1400">
                <a:solidFill>
                  <a:srgbClr val="CCCCDD"/>
                </a:solidFill>
                <a:latin typeface="Calibri"/>
              </a:rPr>
              <a:t>基于reward gap自适应调节teacher_loss_scale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ESS-Dual Clipping：</a:t>
            </a:r>
            <a:r>
              <a:rPr sz="1400">
                <a:solidFill>
                  <a:srgbClr val="CCCCDD"/>
                </a:solidFill>
                <a:latin typeface="Calibri"/>
              </a:rPr>
              <a:t>控制importance weight方差，确保训练稳定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关键指标：</a:t>
            </a:r>
            <a:r>
              <a:rPr sz="1400">
                <a:solidFill>
                  <a:srgbClr val="CCCCDD"/>
                </a:solidFill>
                <a:latin typeface="Calibri"/>
              </a:rPr>
              <a:t>teacher_gradient_share 从~50%衰减到~5%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2A1A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State Channel (SC)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专家进度奖励塑形 — 解决奖励稀疏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原理：</a:t>
            </a:r>
            <a:r>
              <a:rPr sz="1400">
                <a:solidFill>
                  <a:srgbClr val="CCCCDD"/>
                </a:solidFill>
                <a:latin typeface="Calibri"/>
              </a:rPr>
              <a:t>构建Expert Progress Map Φ(s)∈[0,1]，将expert观测hash到归一化进度值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Trajectory bonus：</a:t>
            </a:r>
            <a:r>
              <a:rPr sz="1400">
                <a:solidFill>
                  <a:srgbClr val="CCCCDD"/>
                </a:solidFill>
                <a:latin typeface="Calibri"/>
              </a:rPr>
              <a:t>R'= R + β·P(τ), P(τ)=max_t Φ(s_t)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Step-level deltas：</a:t>
            </a:r>
            <a:r>
              <a:rPr sz="1400">
                <a:solidFill>
                  <a:srgbClr val="CCCCDD"/>
                </a:solidFill>
                <a:latin typeface="Calibri"/>
              </a:rPr>
              <a:t>η·[Φ(s_{t+1})-Φ(s_t)] 提供per-token credit assignment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Teacher排除：</a:t>
            </a:r>
            <a:r>
              <a:rPr sz="1400">
                <a:solidFill>
                  <a:srgbClr val="CCCCDD"/>
                </a:solidFill>
                <a:latin typeface="Calibri"/>
              </a:rPr>
              <a:t>SC bonus仅应用于on-policy样本，不给teacher加bonus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理论保证：</a:t>
            </a:r>
            <a:r>
              <a:rPr sz="1400">
                <a:solidFill>
                  <a:srgbClr val="CCCCDD"/>
                </a:solidFill>
                <a:latin typeface="Calibri"/>
              </a:rPr>
              <a:t>Potential-based shaping保持最优策略不变(Proposition 3)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关键指标：</a:t>
            </a:r>
            <a:r>
              <a:rPr sz="1400">
                <a:solidFill>
                  <a:srgbClr val="CCCCDD"/>
                </a:solidFill>
                <a:latin typeface="Calibri"/>
              </a:rPr>
              <a:t>bonus/reward ratio维持在0.08-0.15健康范围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实验结果：验证集成功率对比</a:t>
            </a:r>
          </a:p>
        </p:txBody>
      </p:sp>
      <p:pic>
        <p:nvPicPr>
          <p:cNvPr id="3" name="Picture 2" descr="summary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005840"/>
            <a:ext cx="3840480" cy="530352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DUET 69.5%：</a:t>
            </a:r>
            <a:r>
              <a:rPr sz="1400">
                <a:solidFill>
                  <a:srgbClr val="1A1A2E"/>
                </a:solidFill>
                <a:latin typeface="Calibri"/>
              </a:rPr>
              <a:t>ALFWorld 3B 最佳结果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vs LUFFY +8.0pp：</a:t>
            </a:r>
            <a:r>
              <a:rPr sz="1400">
                <a:solidFill>
                  <a:srgbClr val="1A1A2E"/>
                </a:solidFill>
                <a:latin typeface="Calibri"/>
              </a:rPr>
              <a:t>DR3密度比修正 &gt; 固定policy shaping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vs GRPO +11.0pp：</a:t>
            </a:r>
            <a:r>
              <a:rPr sz="1400">
                <a:solidFill>
                  <a:srgbClr val="1A1A2E"/>
                </a:solidFill>
                <a:latin typeface="Calibri"/>
              </a:rPr>
              <a:t>双通道突破on-policy plateau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vs CHORD +15.0pp：</a:t>
            </a:r>
            <a:r>
              <a:rPr sz="1400">
                <a:solidFill>
                  <a:srgbClr val="1A1A2E"/>
                </a:solidFill>
                <a:latin typeface="Calibri"/>
              </a:rPr>
              <a:t>PG框架内修正 &gt; SFT路径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DUET(0329) vs (0327) +3.5pp：</a:t>
            </a:r>
            <a:r>
              <a:rPr sz="1400">
                <a:solidFill>
                  <a:srgbClr val="1A1A2E"/>
                </a:solidFill>
                <a:latin typeface="Calibri"/>
              </a:rPr>
              <a:t>SC teacher exclusion是关键修复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详细数据：验证集 &amp; 训练集成功率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Validation Success Rate (N=200 test tasks)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Val@50</a:t>
                      </a:r>
                    </a:p>
                  </a:txBody>
                  <a:tcPr marL="91440" marR="91440" marT="45720" marB="4572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Val@100</a:t>
                      </a:r>
                    </a:p>
                  </a:txBody>
                  <a:tcPr marL="91440" marR="91440" marT="45720" marB="4572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Δ(50→100)</a:t>
                      </a:r>
                    </a:p>
                  </a:txBody>
                  <a:tcPr marL="91440" marR="91440" marT="45720" marB="45720">
                    <a:solidFill>
                      <a:srgbClr val="3B82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DUET (0329)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48.0%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69.5%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+21.5pp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DUET (0327)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53.0%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66.0%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+13.0pp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LUFFY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47.5%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61.5%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+14.0pp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GRPO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47.5%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58.5%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+11.0pp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CHORD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42.5%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54.5%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+12.0pp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Training Success Rate (64 rollouts/step)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48056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10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30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50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70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100</a:t>
                      </a:r>
                    </a:p>
                  </a:txBody>
                  <a:tcPr marL="91440" marR="91440" marT="45720" marB="45720">
                    <a:solidFill>
                      <a:srgbClr val="10B98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DUET (0329)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48.4%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54.7%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65.6%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59.4%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84.4%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LUFFY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43.8%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57.8%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62.5%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68.8%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GRPO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35.9%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37.5%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54.7%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60.9%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51.6%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CHORD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43.8%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45.3%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54.7%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65.6%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64.1%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371600"/>
            <a:ext cx="3931920" cy="5120640"/>
          </a:xfrm>
          <a:prstGeom prst="roundRect">
            <a:avLst/>
          </a:prstGeom>
          <a:solidFill>
            <a:srgbClr val="282842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分析要点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DUET(0329) 后半段加速最强：</a:t>
            </a:r>
            <a:r>
              <a:rPr sz="1300">
                <a:solidFill>
                  <a:srgbClr val="CCCCDD"/>
                </a:solidFill>
                <a:latin typeface="Calibri"/>
              </a:rPr>
              <a:t>Step 50→100 增长 +21.5pp，远超其他方法</a:t>
            </a:r>
          </a:p>
          <a:p>
            <a:pPr>
              <a:spcAft>
                <a:spcPts val="10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Train@100=84.4%：</a:t>
            </a:r>
            <a:r>
              <a:rPr sz="1300">
                <a:solidFill>
                  <a:srgbClr val="CCCCDD"/>
                </a:solidFill>
                <a:latin typeface="Calibri"/>
              </a:rPr>
              <a:t>训练集上on-policy几乎匹配teacher水平(~85%)</a:t>
            </a:r>
          </a:p>
          <a:p>
            <a:pPr>
              <a:spcAft>
                <a:spcPts val="10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GRPO plateau在~58%：</a:t>
            </a:r>
            <a:r>
              <a:rPr sz="1300">
                <a:solidFill>
                  <a:srgbClr val="CCCCDD"/>
                </a:solidFill>
                <a:latin typeface="Calibri"/>
              </a:rPr>
              <a:t>on-policy方法的固有瓶颈，缺乏dense reward signal</a:t>
            </a:r>
          </a:p>
          <a:p>
            <a:pPr>
              <a:spcAft>
                <a:spcPts val="10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泛化Gap 14.9pp：</a:t>
            </a:r>
            <a:r>
              <a:rPr sz="1300">
                <a:solidFill>
                  <a:srgbClr val="CCCCDD"/>
                </a:solidFill>
                <a:latin typeface="Calibri"/>
              </a:rPr>
              <a:t>合理范围，SC/DR3主要在训练任务上学习</a:t>
            </a:r>
          </a:p>
          <a:p>
            <a:pPr>
              <a:spcAft>
                <a:spcPts val="10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Response效率：</a:t>
            </a:r>
            <a:r>
              <a:rPr sz="1300">
                <a:solidFill>
                  <a:srgbClr val="CCCCDD"/>
                </a:solidFill>
                <a:latin typeface="Calibri"/>
              </a:rPr>
              <a:t>DUET 3,155 tokens vs GRPO 8,665 (↓63%)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训练动态对比</a:t>
            </a:r>
          </a:p>
        </p:txBody>
      </p:sp>
      <p:pic>
        <p:nvPicPr>
          <p:cNvPr id="3" name="Picture 2" descr="training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206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Success Rate：</a:t>
            </a:r>
            <a:r>
              <a:rPr sz="1400">
                <a:solidFill>
                  <a:srgbClr val="1A1A2E"/>
                </a:solidFill>
                <a:latin typeface="Calibri"/>
              </a:rPr>
              <a:t>DUET(红色)在step 70后加速上升并持续领先；GRPO(蓝色)在~50-60%水平plateau；LUFFY/CHORD中间振荡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KL Loss：</a:t>
            </a:r>
            <a:r>
              <a:rPr sz="1400">
                <a:solidFill>
                  <a:srgbClr val="1A1A2E"/>
                </a:solidFill>
                <a:latin typeface="Calibri"/>
              </a:rPr>
              <a:t>DUET的KL稳定在0.2-0.4，说明策略更新可控；后期有spike但未发散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Entropy：</a:t>
            </a:r>
            <a:r>
              <a:rPr sz="1400">
                <a:solidFill>
                  <a:srgbClr val="1A1A2E"/>
                </a:solidFill>
                <a:latin typeface="Calibri"/>
              </a:rPr>
              <a:t>DUET的entropy下降最为渐进平稳，exploration→exploitation过渡健康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浅色线=原始数据，深色线=MA(5)平滑曲线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DUET(0329) 组件诊断</a:t>
            </a:r>
          </a:p>
        </p:txBody>
      </p:sp>
      <p:pic>
        <p:nvPicPr>
          <p:cNvPr id="3" name="Picture 2" descr="duet_0329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22960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822960"/>
            <a:ext cx="3474720" cy="5303520"/>
          </a:xfrm>
          <a:prstGeom prst="roundRect">
            <a:avLst/>
          </a:prstGeom>
          <a:solidFill>
            <a:srgbClr val="EE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914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诊断解读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Teacher Gradient Share：</a:t>
            </a:r>
            <a:r>
              <a:rPr sz="1300">
                <a:solidFill>
                  <a:srgbClr val="1A1A2E"/>
                </a:solidFill>
                <a:latin typeface="Calibri"/>
              </a:rPr>
              <a:t>从~80%衰减至~20%，终态6.3% ✅ DR3自然课程验证</a:t>
            </a:r>
          </a:p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SC Bonus/Reward：</a:t>
            </a:r>
            <a:r>
              <a:rPr sz="1300">
                <a:solidFill>
                  <a:srgbClr val="1A1A2E"/>
                </a:solidFill>
                <a:latin typeface="Calibri"/>
              </a:rPr>
              <a:t>稳定在0.08-0.15 ✅ 未压过task reward</a:t>
            </a:r>
          </a:p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Disc Accuracy：</a:t>
            </a:r>
            <a:r>
              <a:rPr sz="1300">
                <a:solidFill>
                  <a:srgbClr val="1A1A2E"/>
                </a:solidFill>
                <a:latin typeface="Calibri"/>
              </a:rPr>
              <a:t>0→0.98+ ✅ 判别器快速收敛</a:t>
            </a:r>
          </a:p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Teacher Ratio：</a:t>
            </a:r>
            <a:r>
              <a:rPr sz="1300">
                <a:solidFill>
                  <a:srgbClr val="1A1A2E"/>
                </a:solidFill>
                <a:latin typeface="Calibri"/>
              </a:rPr>
              <a:t>稳定0.125 ✅ 混入比例正确(1/8)</a:t>
            </a:r>
          </a:p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KL Loss：</a:t>
            </a:r>
            <a:r>
              <a:rPr sz="1300">
                <a:solidFill>
                  <a:srgbClr val="1A1A2E"/>
                </a:solidFill>
                <a:latin typeface="Calibri"/>
              </a:rPr>
              <a:t>&lt;0.5为主，后期有spike ⚠️ 需关注</a:t>
            </a:r>
          </a:p>
          <a:p>
            <a:pPr>
              <a:spcAft>
                <a:spcPts val="10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b="1" sz="1300">
                <a:solidFill>
                  <a:srgbClr val="FFFFFF"/>
                </a:solidFill>
                <a:latin typeface="Calibri"/>
              </a:rPr>
              <a:t>Success Rate：</a:t>
            </a:r>
            <a:r>
              <a:rPr sz="1300">
                <a:solidFill>
                  <a:srgbClr val="1A1A2E"/>
                </a:solidFill>
                <a:latin typeface="Calibri"/>
              </a:rPr>
              <a:t>持续上升 ✅ 训练健康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版本演进：DUET(0327) → DUET(0329)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关键修复：SC Teacher Exclusion 解决了两通道互斗问题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2A1A1A"/>
          </a:solidFill>
          <a:ln w="1270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62728"/>
                </a:solidFill>
                <a:latin typeface="Calibri"/>
              </a:defRPr>
            </a:pPr>
            <a:r>
              <a:t>DUET(0327) 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SC bonus同时应用于teacher样本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Teacher reward: </a:t>
            </a:r>
            <a:r>
              <a:rPr sz="1400">
                <a:solidFill>
                  <a:srgbClr val="CCCCDD"/>
                </a:solidFill>
                <a:latin typeface="Calibri"/>
              </a:rPr>
              <a:t>1.0 + 0.2×0.85 = 1.17 (被SC抬高)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Teacher advantage始终为正 (+0.10 at step 100)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直接对抗DR3的natural fade-out → teacher gap停滞在0.394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DUET(0329) 的修复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exclude_teacher: </a:t>
            </a:r>
            <a:r>
              <a:rPr sz="1400">
                <a:solidFill>
                  <a:srgbClr val="CCCCDD"/>
                </a:solidFill>
                <a:latin typeface="Calibri"/>
              </a:rPr>
              <a:t>true — SC bonus仅给on-policy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Teacher reward保持1.0，不被SC inflate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Teacher advantage到step 50已为负 (-0.22)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DR3自然衰退恢复正常 → teacher gap收敛至0.061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0" y="4480560"/>
          <a:ext cx="8503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DUET(0327)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DUET(0329)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Validation@100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66.0%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69.5%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+3.5pp ↑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Teacher Gap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0.394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0.061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6.5x ↓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Train Batch SR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66.1%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+16pp ↑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Response Length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4,778 tok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3,155 tok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-34% ↓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理论验证状态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Proposition</a:t>
                      </a:r>
                    </a:p>
                  </a:txBody>
                  <a:tcPr marL="91440" marR="91440" marT="45720" marB="4572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8B5C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P1 Non-degeneracy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SC确保σ_{R'}&gt;0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Verified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GRPO plateau而DUET持续改善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P3 Direction consistency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SC不引入错误方向偏差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Verified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验证SR持续上升，无divergence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P4 Natural curriculum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σ_P→0时SC自动退出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beta_decay未触发(bug)，σ_P≈0.24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P9 Orthogonality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两通道效果叠加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Verified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DUET&gt;LUFFY&gt;CHORD排序一致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DR3 Fade-out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teacher_gradient_share↓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Verified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52.8%→19.8%，终态6.3%</a:t>
                      </a:r>
                    </a:p>
                  </a:txBody>
                  <a:tcPr marL="91440" marR="91440" marT="45720" marB="4572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SC Teacher Excl.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排除teacher的SC bonus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Critical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0327→0329: gap 0.394→0.061</a:t>
                      </a:r>
                    </a:p>
                  </a:txBody>
                  <a:tcPr marL="91440" marR="91440" marT="45720" marB="45720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572000"/>
            <a:ext cx="10972800" cy="1828800"/>
          </a:xfrm>
          <a:prstGeom prst="roundRect">
            <a:avLst/>
          </a:prstGeom>
          <a:solidFill>
            <a:srgbClr val="2A2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⚠️  已发现问题：beta_decay 未触发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原因：</a:t>
            </a:r>
            <a:r>
              <a:rPr sz="1400">
                <a:solidFill>
                  <a:srgbClr val="CCCCDD"/>
                </a:solidFill>
                <a:latin typeface="Calibri"/>
              </a:rPr>
              <a:t>beta_decay_target=0.3 与 per-token normalized reward (~0.0007) 存在~400x数量级不匹配，导致β=0.2全程不变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影响：</a:t>
            </a:r>
            <a:r>
              <a:rPr sz="1400">
                <a:solidFill>
                  <a:srgbClr val="CCCCDD"/>
                </a:solidFill>
                <a:latin typeface="Calibri"/>
              </a:rPr>
              <a:t>SC全程活跃实际有益（持续提供dense signal），但不符合设计意图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修复方案(0330)：</a:t>
            </a:r>
            <a:r>
              <a:rPr sz="1400">
                <a:solidFill>
                  <a:srgbClr val="CCCCDD"/>
                </a:solidFill>
                <a:latin typeface="Calibri"/>
              </a:rPr>
              <a:t>改用binary success rate作为decay metric，beta_decay_target设为0.8；同时KL coef从0.005降至0.001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 — NeurIPS 2026 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🔥 Immediate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DUET(0330)：</a:t>
            </a:r>
            <a:r>
              <a:rPr sz="1400">
                <a:solidFill>
                  <a:srgbClr val="CCCCDD"/>
                </a:solidFill>
                <a:latin typeface="Calibri"/>
              </a:rPr>
              <a:t>beta_decay fix + KL=0.001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Ablation实验：</a:t>
            </a:r>
            <a:r>
              <a:rPr sz="1400">
                <a:solidFill>
                  <a:srgbClr val="CCCCDD"/>
                </a:solidFill>
                <a:latin typeface="Calibri"/>
              </a:rPr>
              <a:t>DR3-only, SC-only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WebShop实验：</a:t>
            </a:r>
            <a:r>
              <a:rPr sz="1400">
                <a:solidFill>
                  <a:srgbClr val="CCCCDD"/>
                </a:solidFill>
                <a:latin typeface="Calibri"/>
              </a:rPr>
              <a:t>验证跨环境泛化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74720" cy="502920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📋 Short-term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多seed实验(3-5 seeds)：</a:t>
            </a:r>
            <a:r>
              <a:rPr sz="1400">
                <a:solidFill>
                  <a:srgbClr val="CCCCDD"/>
                </a:solidFill>
                <a:latin typeface="Calibri"/>
              </a:rPr>
              <a:t>获取error bars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SciWorld实验：</a:t>
            </a:r>
            <a:r>
              <a:rPr sz="1400">
                <a:solidFill>
                  <a:srgbClr val="CCCCDD"/>
                </a:solidFill>
                <a:latin typeface="Calibri"/>
              </a:rPr>
              <a:t>第三个环境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7B模型：</a:t>
            </a:r>
            <a:r>
              <a:rPr sz="1400">
                <a:solidFill>
                  <a:srgbClr val="CCCCDD"/>
                </a:solidFill>
                <a:latin typeface="Calibri"/>
              </a:rPr>
              <a:t>验证scalability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GiGPO baseline对比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2A1A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📝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论文撰写：</a:t>
            </a:r>
            <a:r>
              <a:rPr sz="1400">
                <a:solidFill>
                  <a:srgbClr val="CCCCDD"/>
                </a:solidFill>
                <a:latin typeface="Calibri"/>
              </a:rPr>
              <a:t>method + experiments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图表制作：</a:t>
            </a:r>
            <a:r>
              <a:rPr sz="1400">
                <a:solidFill>
                  <a:srgbClr val="CCCCDD"/>
                </a:solidFill>
                <a:latin typeface="Calibri"/>
              </a:rPr>
              <a:t>publication quality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rPr b="1" sz="1400">
                <a:solidFill>
                  <a:srgbClr val="FFFFFF"/>
                </a:solidFill>
                <a:latin typeface="Calibri"/>
              </a:rPr>
              <a:t>Reviewer预演：</a:t>
            </a:r>
            <a:r>
              <a:rPr sz="1400">
                <a:solidFill>
                  <a:srgbClr val="CCCCDD"/>
                </a:solidFill>
                <a:latin typeface="Calibri"/>
              </a:rPr>
              <a:t>回应orthogonality、novelty、baseline问题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NeurIPS 2026 投稿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