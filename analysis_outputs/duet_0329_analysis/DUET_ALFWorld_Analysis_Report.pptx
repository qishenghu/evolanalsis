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Calibri"/>
              </a:defRPr>
            </a:pPr>
            <a:r>
              <a:t>DUET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94A3B8"/>
                </a:solidFill>
                <a:latin typeface="Calibri"/>
              </a:defRPr>
            </a:pPr>
            <a:r>
              <a:t>DUal Expert Trajectory Utilization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474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for Agent RLVR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206240"/>
            <a:ext cx="2743200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480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ALFWorld 3B Experiment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2026.03.30   Qwen2.5-3B-Instruct   4xH100   NeurIPS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28600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200" b="1">
                <a:solidFill>
                  <a:srgbClr val="DC2626"/>
                </a:solidFill>
                <a:latin typeface="Calibri"/>
              </a:defRPr>
            </a:pPr>
            <a:r>
              <a:t>69.5%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Validation Success 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Problem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5029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2626"/>
                </a:solidFill>
                <a:latin typeface="Calibri"/>
              </a:defRPr>
            </a:pPr>
            <a:r>
              <a:t>Agent RLVR 的挑战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  Reward Sparsity：</a:t>
            </a:r>
            <a:r>
              <a:rPr sz="1400">
                <a:solidFill>
                  <a:srgbClr val="1E293B"/>
                </a:solidFill>
                <a:latin typeface="Calibri"/>
              </a:rPr>
              <a:t>Multi-turn环境只有终端奖励(0/1)，探索成功概率极低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  GRPO 失效：</a:t>
            </a:r>
            <a:r>
              <a:rPr sz="1400">
                <a:solidFill>
                  <a:srgbClr val="1E293B"/>
                </a:solidFill>
                <a:latin typeface="Calibri"/>
              </a:rPr>
              <a:t>当group内rollout全部失败时 σ_R=0，零梯度 → 训练plateau在~58%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  LUFFY：</a:t>
            </a:r>
            <a:r>
              <a:rPr sz="1400">
                <a:solidFill>
                  <a:srgbClr val="1E293B"/>
                </a:solidFill>
                <a:latin typeface="Calibri"/>
              </a:rPr>
              <a:t>固定policy shaping无法自适应衰减，后期引入有害梯度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  CHORD：</a:t>
            </a:r>
            <a:r>
              <a:rPr sz="1400">
                <a:solidFill>
                  <a:srgbClr val="1E293B"/>
                </a:solidFill>
                <a:latin typeface="Calibri"/>
              </a:rPr>
              <a:t>SFT路径衰减后退化为纯GRPO，不解决根本问题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  核心矛盾：</a:t>
            </a:r>
            <a:r>
              <a:rPr sz="1400">
                <a:solidFill>
                  <a:srgbClr val="1E293B"/>
                </a:solidFill>
                <a:latin typeface="Calibri"/>
              </a:rPr>
              <a:t>现有方法只利用action-level信息，忽略了state-level信息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120640" cy="5029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Calibri"/>
              </a:defRPr>
            </a:pPr>
            <a:r>
              <a:t>DUET 的核心洞察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3B82F6"/>
                </a:solidFill>
                <a:latin typeface="Calibri"/>
              </a:rPr>
              <a:t>  信息分解：</a:t>
            </a:r>
            <a:r>
              <a:rPr sz="1400">
                <a:solidFill>
                  <a:srgbClr val="1E293B"/>
                </a:solidFill>
                <a:latin typeface="Calibri"/>
              </a:rPr>
              <a:t>Expert trajectory 包含两类正交信息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3B82F6"/>
                </a:solidFill>
                <a:latin typeface="Calibri"/>
              </a:rPr>
              <a:t>  Action-level (策略相关)：</a:t>
            </a:r>
            <a:r>
              <a:rPr sz="1400">
                <a:solidFill>
                  <a:srgbClr val="1E293B"/>
                </a:solidFill>
                <a:latin typeface="Calibri"/>
              </a:rPr>
              <a:t>expert 选择了什么 action → 需分布修正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3B82F6"/>
                </a:solidFill>
                <a:latin typeface="Calibri"/>
              </a:rPr>
              <a:t>  State-level (策略无关)：</a:t>
            </a:r>
            <a:r>
              <a:rPr sz="1400">
                <a:solidFill>
                  <a:srgbClr val="1E293B"/>
                </a:solidFill>
                <a:latin typeface="Calibri"/>
              </a:rPr>
              <a:t>expert 到达了什么 state → 可直接构造进度奖励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3B82F6"/>
                </a:solidFill>
                <a:latin typeface="Calibri"/>
              </a:rPr>
              <a:t>  Action Channel (DR3)：</a:t>
            </a:r>
            <a:r>
              <a:rPr sz="1400">
                <a:solidFill>
                  <a:srgbClr val="1E293B"/>
                </a:solidFill>
                <a:latin typeface="Calibri"/>
              </a:rPr>
              <a:t>判别器估计密度比，修正importance weight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3B82F6"/>
                </a:solidFill>
                <a:latin typeface="Calibri"/>
              </a:rPr>
              <a:t>  State Channel (SC)：</a:t>
            </a:r>
            <a:r>
              <a:rPr sz="1400">
                <a:solidFill>
                  <a:srgbClr val="1E293B"/>
                </a:solidFill>
                <a:latin typeface="Calibri"/>
              </a:rPr>
              <a:t>Expert Progress Map 提供 dense reward shaping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3B82F6"/>
                </a:solidFill>
                <a:latin typeface="Calibri"/>
              </a:rPr>
              <a:t>  正交互补：</a:t>
            </a:r>
            <a:r>
              <a:rPr sz="1400">
                <a:solidFill>
                  <a:srgbClr val="1E293B"/>
                </a:solidFill>
                <a:latin typeface="Calibri"/>
              </a:rPr>
              <a:t>两通道独立工作，效果严格叠加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DUET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85800"/>
            <a:ext cx="182880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ue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1179576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ummary_b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7132320" cy="5029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005840"/>
            <a:ext cx="4297680" cy="5029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262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  DUET 69.5%：</a:t>
            </a:r>
            <a:r>
              <a:rPr sz="1300">
                <a:solidFill>
                  <a:srgbClr val="1E293B"/>
                </a:solidFill>
                <a:latin typeface="Calibri"/>
              </a:rPr>
              <a:t>ALFWorld 3B best result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  vs LUFFY +8.0pp：</a:t>
            </a:r>
            <a:r>
              <a:rPr sz="1300">
                <a:solidFill>
                  <a:srgbClr val="1E293B"/>
                </a:solidFill>
                <a:latin typeface="Calibri"/>
              </a:rPr>
              <a:t>DR3 density ratio &gt; fixed policy shaping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  vs GRPO +11.0pp：</a:t>
            </a:r>
            <a:r>
              <a:rPr sz="1300">
                <a:solidFill>
                  <a:srgbClr val="1E293B"/>
                </a:solidFill>
                <a:latin typeface="Calibri"/>
              </a:rPr>
              <a:t>dual channels break the on-policy plateau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  vs CHORD +15.0pp：</a:t>
            </a:r>
            <a:r>
              <a:rPr sz="1300">
                <a:solidFill>
                  <a:srgbClr val="1E293B"/>
                </a:solidFill>
                <a:latin typeface="Calibri"/>
              </a:rPr>
              <a:t>PG-based correction &gt; SFT path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  后半段加速：</a:t>
            </a:r>
            <a:r>
              <a:rPr sz="1300">
                <a:solidFill>
                  <a:srgbClr val="1E293B"/>
                </a:solidFill>
                <a:latin typeface="Calibri"/>
              </a:rPr>
              <a:t>Step 50→100 增长 +21.5pp，远超其他方法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  响应效率：</a:t>
            </a:r>
            <a:r>
              <a:rPr sz="1300">
                <a:solidFill>
                  <a:srgbClr val="1E293B"/>
                </a:solidFill>
                <a:latin typeface="Calibri"/>
              </a:rPr>
              <a:t>DUET 3155 tok vs GRPO 8665 tok (-63%)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Detailed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Validation Success Rate (N=200)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5943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73152" marR="73152" marT="36576" marB="36576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Val@50</a:t>
                      </a:r>
                    </a:p>
                  </a:txBody>
                  <a:tcPr marL="73152" marR="73152" marT="36576" marB="36576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Val@100</a:t>
                      </a:r>
                    </a:p>
                  </a:txBody>
                  <a:tcPr marL="73152" marR="73152" marT="36576" marB="36576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Improvement</a:t>
                      </a:r>
                    </a:p>
                  </a:txBody>
                  <a:tcPr marL="73152" marR="73152" marT="36576" marB="36576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DUET</a:t>
                      </a:r>
                    </a:p>
                  </a:txBody>
                  <a:tcPr marL="73152" marR="73152" marT="36576" marB="36576">
                    <a:solidFill>
                      <a:srgbClr val="3B82F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DUET (0329)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48.0%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69.5%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+21.5pp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DUET (0327)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53.0%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66.0%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+13.0pp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-3.5pp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LUFFY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47.5%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61.5%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+14.0pp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-8.0pp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GRPO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47.5%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58.5%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+11.0pp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-11.0pp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CHORD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42.5%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54.5%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+12.0pp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-15.0pp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alibri"/>
              </a:defRPr>
            </a:pPr>
            <a:r>
              <a:t>Training Success Rate (64 rollouts/step)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4206240"/>
          <a:ext cx="6400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73152" marR="73152" marT="36576" marB="36576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 10</a:t>
                      </a:r>
                    </a:p>
                  </a:txBody>
                  <a:tcPr marL="73152" marR="73152" marT="36576" marB="36576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 30</a:t>
                      </a:r>
                    </a:p>
                  </a:txBody>
                  <a:tcPr marL="73152" marR="73152" marT="36576" marB="36576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 50</a:t>
                      </a:r>
                    </a:p>
                  </a:txBody>
                  <a:tcPr marL="73152" marR="73152" marT="36576" marB="36576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 70</a:t>
                      </a:r>
                    </a:p>
                  </a:txBody>
                  <a:tcPr marL="73152" marR="73152" marT="36576" marB="36576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 100</a:t>
                      </a:r>
                    </a:p>
                  </a:txBody>
                  <a:tcPr marL="73152" marR="73152" marT="36576" marB="36576">
                    <a:solidFill>
                      <a:srgbClr val="10B98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DUET (0329)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48.4%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54.7%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65.6%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59.4%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84.4%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LUFFY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43.8%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57.8%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62.5%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68.8%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71.9%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GRPO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35.9%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37.5%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54.7%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60.9%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51.6%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CHORD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43.8%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45.3%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54.7%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65.6%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64.1%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589520" y="1005840"/>
            <a:ext cx="429768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0972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93B"/>
                </a:solidFill>
                <a:latin typeface="Calibri"/>
              </a:defRPr>
            </a:pPr>
            <a:r>
              <a:t>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55448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  DUET 后半段加速最猛：</a:t>
            </a:r>
            <a:r>
              <a:rPr sz="1200">
                <a:solidFill>
                  <a:srgbClr val="1E293B"/>
                </a:solidFill>
                <a:latin typeface="Calibri"/>
              </a:rPr>
              <a:t>Step 50→100 +21.5pp，LUFFY仅+14pp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  Train@100 = 84.4%：</a:t>
            </a:r>
            <a:r>
              <a:rPr sz="1200">
                <a:solidFill>
                  <a:srgbClr val="1E293B"/>
                </a:solidFill>
                <a:latin typeface="Calibri"/>
              </a:rPr>
              <a:t>on-policy已接近teacher水平(~85%)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  GRPO plateau ~58%：</a:t>
            </a:r>
            <a:r>
              <a:rPr sz="1200">
                <a:solidFill>
                  <a:srgbClr val="1E293B"/>
                </a:solidFill>
                <a:latin typeface="Calibri"/>
              </a:rPr>
              <a:t>on-policy方法的固有瓶颈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  泛化 Gap = 14.9pp (Train 84.4% vs Val 69.5%)：</a:t>
            </a:r>
            <a:r>
              <a:rPr sz="1200">
                <a:solidFill>
                  <a:srgbClr val="1E293B"/>
                </a:solidFill>
                <a:latin typeface="Calibri"/>
              </a:rPr>
              <a:t>合理范围</a:t>
            </a:r>
          </a:p>
          <a:p>
            <a:pPr>
              <a:spcBef>
                <a:spcPts val="200"/>
              </a:spcBef>
              <a:spcAft>
                <a:spcPts val="9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CHORD在step50后SFT基本关闭，后续改善缓慢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  DUET训练最稳定：</a:t>
            </a:r>
            <a:r>
              <a:rPr sz="1200">
                <a:solidFill>
                  <a:srgbClr val="1E293B"/>
                </a:solidFill>
                <a:latin typeface="Calibri"/>
              </a:rPr>
              <a:t>无LUFFY的step 80-90回落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Training Dynamics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58368"/>
            <a:ext cx="182880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aining_curv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822960"/>
            <a:ext cx="1188720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937760"/>
            <a:ext cx="11247120" cy="16459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  Success Rate：</a:t>
            </a:r>
            <a:r>
              <a:rPr sz="1200">
                <a:solidFill>
                  <a:srgbClr val="64748B"/>
                </a:solidFill>
                <a:latin typeface="Calibri"/>
              </a:rPr>
              <a:t>DUET(红)在step 70后加速上升并持续领先，GRPO(蓝)在~50-60%水平plateau，LUFFY/CHORD中间振荡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  KL Loss：</a:t>
            </a:r>
            <a:r>
              <a:rPr sz="1200">
                <a:solidFill>
                  <a:srgbClr val="64748B"/>
                </a:solidFill>
                <a:latin typeface="Calibri"/>
              </a:rPr>
              <a:t>DUET的KL稳定在0.2-0.4，策略更新可控，后期有spike但未发散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  Entropy：</a:t>
            </a:r>
            <a:r>
              <a:rPr sz="1200">
                <a:solidFill>
                  <a:srgbClr val="64748B"/>
                </a:solidFill>
                <a:latin typeface="Calibri"/>
              </a:rPr>
              <a:t>DUET的entropy渐进平稳下降，exploration→exploitation过渡健康。浅色=raw data，深色=MA(5)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DUET Component Diagnostics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58368"/>
            <a:ext cx="182880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uet_0329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777240"/>
            <a:ext cx="8412480" cy="5303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686800" y="777240"/>
            <a:ext cx="329184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822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Diagnostic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1280160"/>
            <a:ext cx="2926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  Teacher Gradient Share：</a:t>
            </a:r>
            <a:r>
              <a:rPr sz="1100">
                <a:solidFill>
                  <a:srgbClr val="1E293B"/>
                </a:solidFill>
                <a:latin typeface="Calibri"/>
              </a:rPr>
              <a:t>80%→20% ✅
DR3自然课程已验证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  SC Bonus/Reward：</a:t>
            </a:r>
            <a:r>
              <a:rPr sz="1100">
                <a:solidFill>
                  <a:srgbClr val="1E293B"/>
                </a:solidFill>
                <a:latin typeface="Calibri"/>
              </a:rPr>
              <a:t>0.08-0.15 ✅
未压过task reward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  Disc Accuracy：</a:t>
            </a:r>
            <a:r>
              <a:rPr sz="1100">
                <a:solidFill>
                  <a:srgbClr val="1E293B"/>
                </a:solidFill>
                <a:latin typeface="Calibri"/>
              </a:rPr>
              <a:t>0→0.98+ ✅
判别器快速收敛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  Teacher Ratio：</a:t>
            </a:r>
            <a:r>
              <a:rPr sz="1100">
                <a:solidFill>
                  <a:srgbClr val="1E293B"/>
                </a:solidFill>
                <a:latin typeface="Calibri"/>
              </a:rPr>
              <a:t>稳定0.125 ✅
1/8混入比例正确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  KL Loss：</a:t>
            </a:r>
            <a:r>
              <a:rPr sz="1100">
                <a:solidFill>
                  <a:srgbClr val="1E293B"/>
                </a:solidFill>
                <a:latin typeface="Calibri"/>
              </a:rPr>
              <a:t>&lt; 0.5为主 ⚠️
后期有spike需关注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  Success Rate：</a:t>
            </a:r>
            <a:r>
              <a:rPr sz="1100">
                <a:solidFill>
                  <a:srgbClr val="1E293B"/>
                </a:solidFill>
                <a:latin typeface="Calibri"/>
              </a:rPr>
              <a:t>持续上升 ✅
训练整体健康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Key Fix: SC Teacher Exclusion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DUET(0327) → DUET(0329)：解决两通道互斗问题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29260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2626"/>
                </a:solidFill>
                <a:latin typeface="Calibri"/>
              </a:defRPr>
            </a:pPr>
            <a:r>
              <a:t>Before: DUET(0327)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SC bonus同时应用于teacher样本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DC2626"/>
                </a:solidFill>
                <a:latin typeface="Calibri"/>
              </a:rPr>
              <a:t>  Teacher reward被抬高：</a:t>
            </a:r>
            <a:r>
              <a:rPr sz="1300">
                <a:solidFill>
                  <a:srgbClr val="1E293B"/>
                </a:solidFill>
                <a:latin typeface="Calibri"/>
              </a:rPr>
              <a:t>1.0 + 0.2×0.85 = 1.17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Teacher advantage始终为正 (+0.10 at step 100)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SC抬高teacher → 对抗DR3的natural fade-out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Teacher gap停滞在 0.394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120640" cy="29260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Calibri"/>
              </a:defRPr>
            </a:pPr>
            <a:r>
              <a:t>After: DUET(0329)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  exclude_teacher: </a:t>
            </a:r>
            <a:r>
              <a:rPr sz="1300">
                <a:solidFill>
                  <a:srgbClr val="1E293B"/>
                </a:solidFill>
                <a:latin typeface="Calibri"/>
              </a:rPr>
              <a:t>true — SC bonus仅给on-policy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Teacher reward保持 1.0，不被inflate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Teacher advantage到step 50已为负 (-0.22)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DR3自然衰退恢复正常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Teacher gap收敛至 0.061 (6.5x improvement)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286000" y="4572000"/>
          <a:ext cx="7589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marL="73152" marR="73152" marT="36576" marB="36576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DUET(0327)</a:t>
                      </a:r>
                    </a:p>
                  </a:txBody>
                  <a:tcPr marL="73152" marR="73152" marT="36576" marB="36576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DUET(0329)</a:t>
                      </a:r>
                    </a:p>
                  </a:txBody>
                  <a:tcPr marL="73152" marR="73152" marT="36576" marB="36576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Change</a:t>
                      </a:r>
                    </a:p>
                  </a:txBody>
                  <a:tcPr marL="73152" marR="73152" marT="36576" marB="36576">
                    <a:solidFill>
                      <a:srgbClr val="F59E0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Validation@100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66.0%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69.5%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+3.5pp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Teacher Gap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0.394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0.061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6.5x better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Training Batch SR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66.1%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82.1%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+16pp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Response Length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4,778 tok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3,155 tok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-34%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Theoretical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Proposition</a:t>
                      </a:r>
                    </a:p>
                  </a:txBody>
                  <a:tcPr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Evidence</a:t>
                      </a:r>
                    </a:p>
                  </a:txBody>
                  <a:tcPr marL="73152" marR="73152" marT="36576" marB="36576">
                    <a:solidFill>
                      <a:srgbClr val="8B5CF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P1 Non-degeneracy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SC ensures σ_{R'} &gt; 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GRPO plateau while DUET improves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P3 Direction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SC preserves optimal policy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Val SR consistently increases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P4 Curriculum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σ_P → 0 as policy improves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⚠️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beta_decay bug; σ_P ≈ 0.24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P9 Orthogonality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Channels additive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DUET &gt; LUFFY &gt; CHORD ordering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DR3 Fade-out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teacher_grad_share ↓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52.8% → 19.8%, final 6.3%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SC Exclusion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No SC bonus on teacher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Gap: 0.394 → 0.061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297680"/>
            <a:ext cx="10698480" cy="21031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Bug Found &amp; Fix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Calibri"/>
              </a:rPr>
              <a:t>  beta_decay bug：</a:t>
            </a:r>
            <a:r>
              <a:rPr sz="1300">
                <a:solidFill>
                  <a:srgbClr val="1E293B"/>
                </a:solidFill>
                <a:latin typeface="Calibri"/>
              </a:rPr>
              <a:t>beta_decay_target=0.3 vs per-token reward ~0.0007 — 400x数量级不匹配，β=0.2全程不变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Calibri"/>
              </a:rPr>
              <a:t>  Impact：</a:t>
            </a:r>
            <a:r>
              <a:rPr sz="1300">
                <a:solidFill>
                  <a:srgbClr val="1E293B"/>
                </a:solidFill>
                <a:latin typeface="Calibri"/>
              </a:rPr>
              <a:t>SC全程活跃实际有益（持续dense signal），但不符合设计意图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Calibri"/>
              </a:rPr>
              <a:t>  Fix (0330)：</a:t>
            </a:r>
            <a:r>
              <a:rPr sz="1300">
                <a:solidFill>
                  <a:srgbClr val="1E293B"/>
                </a:solidFill>
                <a:latin typeface="Calibri"/>
              </a:rPr>
              <a:t>改用binary success rate作为decay metric (beta_decay_target=0.8)，同时KL coef 0.005→0.001与LUFFY对齐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3383280" cy="5029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1887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C2626"/>
                </a:solidFill>
                <a:latin typeface="Calibri"/>
              </a:defRPr>
            </a:pPr>
            <a:r>
              <a:t>Immediate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691640"/>
            <a:ext cx="1371600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300" b="1">
                <a:solidFill>
                  <a:srgbClr val="DC2626"/>
                </a:solidFill>
                <a:latin typeface="Calibri"/>
              </a:rPr>
              <a:t>  DUET(0330)：</a:t>
            </a:r>
            <a:r>
              <a:rPr sz="1300">
                <a:solidFill>
                  <a:srgbClr val="1E293B"/>
                </a:solidFill>
                <a:latin typeface="Calibri"/>
              </a:rPr>
              <a:t>beta_decay fix + KL=0.001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300" b="1">
                <a:solidFill>
                  <a:srgbClr val="DC2626"/>
                </a:solidFill>
                <a:latin typeface="Calibri"/>
              </a:rPr>
              <a:t>  Ablation：</a:t>
            </a:r>
            <a:r>
              <a:rPr sz="1300">
                <a:solidFill>
                  <a:srgbClr val="1E293B"/>
                </a:solidFill>
                <a:latin typeface="Calibri"/>
              </a:rPr>
              <a:t>DR3-only, SC-only 量化各组件贡献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300" b="1">
                <a:solidFill>
                  <a:srgbClr val="DC2626"/>
                </a:solidFill>
                <a:latin typeface="Calibri"/>
              </a:rPr>
              <a:t>  WebShop 实验：</a:t>
            </a:r>
            <a:r>
              <a:rPr sz="1300">
                <a:solidFill>
                  <a:srgbClr val="1E293B"/>
                </a:solidFill>
                <a:latin typeface="Calibri"/>
              </a:rPr>
              <a:t>验证跨环境泛化能力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097280"/>
            <a:ext cx="3383280" cy="5029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1887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Calibri"/>
              </a:defRPr>
            </a:pPr>
            <a:r>
              <a:t>Short-term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79" y="1691640"/>
            <a:ext cx="1371600" cy="274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9202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300" b="1">
                <a:solidFill>
                  <a:srgbClr val="3B82F6"/>
                </a:solidFill>
                <a:latin typeface="Calibri"/>
              </a:rPr>
              <a:t>  多 seed (3-5)：</a:t>
            </a:r>
            <a:r>
              <a:rPr sz="1300">
                <a:solidFill>
                  <a:srgbClr val="1E293B"/>
                </a:solidFill>
                <a:latin typeface="Calibri"/>
              </a:rPr>
              <a:t>获取 error bars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300" b="1">
                <a:solidFill>
                  <a:srgbClr val="3B82F6"/>
                </a:solidFill>
                <a:latin typeface="Calibri"/>
              </a:rPr>
              <a:t>  SciWorld：</a:t>
            </a:r>
            <a:r>
              <a:rPr sz="1300">
                <a:solidFill>
                  <a:srgbClr val="1E293B"/>
                </a:solidFill>
                <a:latin typeface="Calibri"/>
              </a:rPr>
              <a:t>第三个实验环境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300" b="1">
                <a:solidFill>
                  <a:srgbClr val="3B82F6"/>
                </a:solidFill>
                <a:latin typeface="Calibri"/>
              </a:rPr>
              <a:t>  7B 模型：</a:t>
            </a:r>
            <a:r>
              <a:rPr sz="1300">
                <a:solidFill>
                  <a:srgbClr val="1E293B"/>
                </a:solidFill>
                <a:latin typeface="Calibri"/>
              </a:rPr>
              <a:t>验证 scalability</a:t>
            </a:r>
          </a:p>
          <a:p>
            <a:pPr>
              <a:spcBef>
                <a:spcPts val="200"/>
              </a:spcBef>
              <a:spcAft>
                <a:spcPts val="14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GiGPO baseline 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097280"/>
            <a:ext cx="3383280" cy="50292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1887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B5CF6"/>
                </a:solidFill>
                <a:latin typeface="Calibri"/>
              </a:defRPr>
            </a:pPr>
            <a:r>
              <a:t>Paper Prep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1691640"/>
            <a:ext cx="1371600" cy="2743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9202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300" b="1">
                <a:solidFill>
                  <a:srgbClr val="8B5CF6"/>
                </a:solidFill>
                <a:latin typeface="Calibri"/>
              </a:rPr>
              <a:t>  论文撰写：</a:t>
            </a:r>
            <a:r>
              <a:rPr sz="1300">
                <a:solidFill>
                  <a:srgbClr val="1E293B"/>
                </a:solidFill>
                <a:latin typeface="Calibri"/>
              </a:rPr>
              <a:t>method + experiments</a:t>
            </a:r>
          </a:p>
          <a:p>
            <a:pPr>
              <a:spcBef>
                <a:spcPts val="200"/>
              </a:spcBef>
              <a:spcAft>
                <a:spcPts val="14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Publication-quality figures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300" b="1">
                <a:solidFill>
                  <a:srgbClr val="8B5CF6"/>
                </a:solidFill>
                <a:latin typeface="Calibri"/>
              </a:rPr>
              <a:t>  Reviewer 预演：</a:t>
            </a:r>
            <a:r>
              <a:rPr sz="1300">
                <a:solidFill>
                  <a:srgbClr val="1E293B"/>
                </a:solidFill>
                <a:latin typeface="Calibri"/>
              </a:rPr>
              <a:t>orthogonality, novelty, baselines</a:t>
            </a:r>
          </a:p>
          <a:p>
            <a:pPr>
              <a:spcBef>
                <a:spcPts val="200"/>
              </a:spcBef>
              <a:spcAft>
                <a:spcPts val="14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NeurIPS 2026 submission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